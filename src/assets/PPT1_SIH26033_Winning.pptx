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529B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Statement ID: SIH26033</a:t>
            </a:r>
          </a:p>
          <a:p>
            <a:r>
              <a:t>Problem: Multiple intermediaries reduce farmers earnings and increase consumer prices</a:t>
            </a:r>
          </a:p>
          <a:p>
            <a:r>
              <a:t>Theme: Agriculture, FoodTech</a:t>
            </a:r>
          </a:p>
          <a:p>
            <a:r>
              <a:t>Team: Team Allied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PROPOSED SOLUTION (KISAN DIRECT)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CC00"/>
                </a:solidFill>
              </a:defRPr>
            </a:pPr>
            <a:r>
              <a:t>SIH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E6F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PROPOSED SOLUTION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One-Line Pitch: </a:t>
            </a:r>
            <a:r>
              <a:rPr sz="1200">
                <a:solidFill>
                  <a:srgbClr val="1E1E1E"/>
                </a:solidFill>
              </a:rPr>
              <a:t>An AI-powered B2B agricultural marketplace eliminating opaque intermediaries, connecting farmers directly with institutional buyers.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Core Value: </a:t>
            </a:r>
            <a:r>
              <a:rPr sz="1200">
                <a:solidFill>
                  <a:srgbClr val="1E1E1E"/>
                </a:solidFill>
              </a:rPr>
              <a:t>Maximizes net margins for farmers and minimizes procurement costs for buyers through intelligent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HOW IT ADDRESSES PS 33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Direct Discovery: </a:t>
            </a:r>
            <a:r>
              <a:rPr sz="1200">
                <a:solidFill>
                  <a:srgbClr val="1E1E1E"/>
                </a:solidFill>
              </a:rPr>
              <a:t>Bypasses middlemen for transparent farmer-buyer trade.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Price Intelligence: </a:t>
            </a:r>
            <a:r>
              <a:rPr sz="1200">
                <a:solidFill>
                  <a:srgbClr val="1E1E1E"/>
                </a:solidFill>
              </a:rPr>
              <a:t>Shows market context &amp; trends before negotiation starts.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Net-Gain Optimization: </a:t>
            </a:r>
            <a:r>
              <a:rPr sz="1200">
                <a:solidFill>
                  <a:srgbClr val="1E1E1E"/>
                </a:solidFill>
              </a:rPr>
              <a:t>AI factors in logistics costs, not just the gross price.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E6F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INNOVATION &amp; UNIQUENESS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Explainable AI (XAI): </a:t>
            </a:r>
            <a:r>
              <a:rPr sz="1200">
                <a:solidFill>
                  <a:srgbClr val="1E1E1E"/>
                </a:solidFill>
              </a:rPr>
              <a:t>No black-box algorithms; provides reasons &amp; warnings for every match.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Modular Architecture: </a:t>
            </a:r>
            <a:r>
              <a:rPr sz="1200">
                <a:solidFill>
                  <a:srgbClr val="1E1E1E"/>
                </a:solidFill>
              </a:rPr>
              <a:t>Plug-and-play Python models for price, demand, and logistics.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Farmer Control: </a:t>
            </a:r>
            <a:r>
              <a:rPr sz="1200">
                <a:solidFill>
                  <a:srgbClr val="1E1E1E"/>
                </a:solidFill>
              </a:rPr>
              <a:t>AI recommends, but the farmer retains full acceptance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CC00"/>
                </a:solidFill>
              </a:defRPr>
            </a:pPr>
            <a:r>
              <a:t>SIH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METHODOLOGY &amp; WORKFLOW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1. Onboard &amp; Auth: </a:t>
            </a:r>
            <a:r>
              <a:rPr sz="1200">
                <a:solidFill>
                  <a:srgbClr val="1E1E1E"/>
                </a:solidFill>
              </a:rPr>
              <a:t>Secure JWT login (Farmers, FPOs, Buyers).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2. Create Listing: </a:t>
            </a:r>
            <a:r>
              <a:rPr sz="1200">
                <a:solidFill>
                  <a:srgbClr val="1E1E1E"/>
                </a:solidFill>
              </a:rPr>
              <a:t>Input crop, quantity, quality, and harvest timing.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3. Discover &amp; Offer: </a:t>
            </a:r>
            <a:r>
              <a:rPr sz="1200">
                <a:solidFill>
                  <a:srgbClr val="1E1E1E"/>
                </a:solidFill>
              </a:rPr>
              <a:t>Buyers submit offers for suitable batches.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4. AI Match Computation: </a:t>
            </a:r>
            <a:r>
              <a:rPr sz="1200">
                <a:solidFill>
                  <a:srgbClr val="1E1E1E"/>
                </a:solidFill>
              </a:rPr>
              <a:t>Multi-factor scoring (price, distance, reliability).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5. Explainable Review: </a:t>
            </a:r>
            <a:r>
              <a:rPr sz="1200">
                <a:solidFill>
                  <a:srgbClr val="1E1E1E"/>
                </a:solidFill>
              </a:rPr>
              <a:t>Farmer reviews the 'net-gain' score and accepts.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6. Plan Delivery: </a:t>
            </a:r>
            <a:r>
              <a:rPr sz="1200">
                <a:solidFill>
                  <a:srgbClr val="1E1E1E"/>
                </a:solidFill>
              </a:rPr>
              <a:t>Automated route, vehicle, and ETA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840480" cy="4572000"/>
          </a:xfrm>
          <a:prstGeom prst="roundRect">
            <a:avLst/>
          </a:prstGeom>
          <a:solidFill>
            <a:srgbClr val="EBF5EB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TECHNOLOGIES TO BE USED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Frontend: </a:t>
            </a:r>
            <a:r>
              <a:rPr sz="1200">
                <a:solidFill>
                  <a:srgbClr val="1E1E1E"/>
                </a:solidFill>
              </a:rPr>
              <a:t>React 18, Vite, Tailwind CSS (Responsive PWA)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Backend: </a:t>
            </a:r>
            <a:r>
              <a:rPr sz="1200">
                <a:solidFill>
                  <a:srgbClr val="1E1E1E"/>
                </a:solidFill>
              </a:rPr>
              <a:t>Python 3.11, FastAPI (Microservices Architecture)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Database: </a:t>
            </a:r>
            <a:r>
              <a:rPr sz="1200">
                <a:solidFill>
                  <a:srgbClr val="1E1E1E"/>
                </a:solidFill>
              </a:rPr>
              <a:t>PostgreSQL 15 + PostGIS (Spatial Data/Routing)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AI/ML: </a:t>
            </a:r>
            <a:r>
              <a:rPr sz="1200">
                <a:solidFill>
                  <a:srgbClr val="1E1E1E"/>
                </a:solidFill>
              </a:rPr>
              <a:t>Scikit-learn (Price/Demand Forecasting), Pandas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Deployment: </a:t>
            </a:r>
            <a:r>
              <a:rPr sz="1200">
                <a:solidFill>
                  <a:srgbClr val="1E1E1E"/>
                </a:solidFill>
              </a:rPr>
              <a:t>Docker, Nginx, JWT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CC00"/>
                </a:solidFill>
              </a:defRPr>
            </a:pPr>
            <a:r>
              <a:t>SIH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2011680"/>
          </a:xfrm>
          <a:prstGeom prst="roundRect">
            <a:avLst/>
          </a:prstGeom>
          <a:solidFill>
            <a:srgbClr val="DCF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TECHNICAL FEASIBILITY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MVP Ready: </a:t>
            </a:r>
            <a:r>
              <a:rPr sz="1200">
                <a:solidFill>
                  <a:srgbClr val="1E1E1E"/>
                </a:solidFill>
              </a:rPr>
              <a:t>Core workflow is operational using React, PostgreSQL, and Docker.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Scalable: </a:t>
            </a:r>
            <a:r>
              <a:rPr sz="1200">
                <a:solidFill>
                  <a:srgbClr val="1E1E1E"/>
                </a:solidFill>
              </a:rPr>
              <a:t>Microservices enable AI model updates without breaking the main API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840480" cy="2011680"/>
          </a:xfrm>
          <a:prstGeom prst="roundRect">
            <a:avLst/>
          </a:prstGeom>
          <a:solidFill>
            <a:srgbClr val="E6FA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OPERATIONAL FEASIBILITY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FPO Partnerships: </a:t>
            </a:r>
            <a:r>
              <a:rPr sz="1200">
                <a:solidFill>
                  <a:srgbClr val="1E1E1E"/>
                </a:solidFill>
              </a:rPr>
              <a:t>Local FPOs act as trust nodes for onboarding and quality checks.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Logistics Integration: </a:t>
            </a:r>
            <a:r>
              <a:rPr sz="1200">
                <a:solidFill>
                  <a:srgbClr val="1E1E1E"/>
                </a:solidFill>
              </a:rPr>
              <a:t>3rd-party logistics are integrated transparently as priced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840480" cy="2011680"/>
          </a:xfrm>
          <a:prstGeom prst="roundRect">
            <a:avLst/>
          </a:prstGeom>
          <a:solidFill>
            <a:srgbClr val="FFF5D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MARKET FEASIBILITY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Targeted Launch: </a:t>
            </a:r>
            <a:r>
              <a:rPr sz="1200">
                <a:solidFill>
                  <a:srgbClr val="1E1E1E"/>
                </a:solidFill>
              </a:rPr>
              <a:t>Initial rollout to specific FPO clusters to guarantee early liquidity.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Clear Need: </a:t>
            </a:r>
            <a:r>
              <a:rPr sz="1200">
                <a:solidFill>
                  <a:srgbClr val="1E1E1E"/>
                </a:solidFill>
              </a:rPr>
              <a:t>Farmers demand price context; buyers need verified, traceable batches.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657600"/>
            <a:ext cx="3840480" cy="2011680"/>
          </a:xfrm>
          <a:prstGeom prst="roundRect">
            <a:avLst/>
          </a:prstGeom>
          <a:solidFill>
            <a:srgbClr val="FAE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COMPETITIVE ADVANTAGE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Integrated Workflow: </a:t>
            </a:r>
            <a:r>
              <a:rPr sz="1200">
                <a:solidFill>
                  <a:srgbClr val="1E1E1E"/>
                </a:solidFill>
              </a:rPr>
              <a:t>Combines pricing, forecasting, and logistics in one platform.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Farmer-Centric: </a:t>
            </a:r>
            <a:r>
              <a:rPr sz="1200">
                <a:solidFill>
                  <a:srgbClr val="1E1E1E"/>
                </a:solidFill>
              </a:rPr>
              <a:t>Focuses strictly on 'Net Realization' rather than just the highest gross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CC00"/>
                </a:solidFill>
              </a:defRPr>
            </a:pPr>
            <a:r>
              <a:t>SIH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2011680"/>
          </a:xfrm>
          <a:prstGeom prst="roundRect">
            <a:avLst/>
          </a:prstGeom>
          <a:solidFill>
            <a:srgbClr val="FA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TARGET AUDIENCE &amp; REACH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Primary: </a:t>
            </a:r>
            <a:r>
              <a:rPr sz="1200">
                <a:solidFill>
                  <a:srgbClr val="1E1E1E"/>
                </a:solidFill>
              </a:rPr>
              <a:t>Small/marginal farmers, FPOs, and Women-led SHGs.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Secondary: </a:t>
            </a:r>
            <a:r>
              <a:rPr sz="1200">
                <a:solidFill>
                  <a:srgbClr val="1E1E1E"/>
                </a:solidFill>
              </a:rPr>
              <a:t>B2B buyers (restaurants, retailers, institutions) and logistics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840480" cy="2011680"/>
          </a:xfrm>
          <a:prstGeom prst="roundRect">
            <a:avLst/>
          </a:prstGeom>
          <a:solidFill>
            <a:srgbClr val="DCF0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ECONOMIC IMPACT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For Farmers: </a:t>
            </a:r>
            <a:r>
              <a:rPr sz="1200">
                <a:solidFill>
                  <a:srgbClr val="1E1E1E"/>
                </a:solidFill>
              </a:rPr>
              <a:t>Expected 15-20% increase in net margins due to transparent logistics info.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For Buyers: </a:t>
            </a:r>
            <a:r>
              <a:rPr sz="1200">
                <a:solidFill>
                  <a:srgbClr val="1E1E1E"/>
                </a:solidFill>
              </a:rPr>
              <a:t>Streamlined sourcing reduces overall procurement costs and ensures batch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840480" cy="2011680"/>
          </a:xfrm>
          <a:prstGeom prst="roundRect">
            <a:avLst/>
          </a:prstGeom>
          <a:solidFill>
            <a:srgbClr val="E6FA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SOCIAL IMPACT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Empowerment: </a:t>
            </a:r>
            <a:r>
              <a:rPr sz="1200">
                <a:solidFill>
                  <a:srgbClr val="1E1E1E"/>
                </a:solidFill>
              </a:rPr>
              <a:t>Grants farmers data sovereignty and transparent pricing power.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Inclusivity: </a:t>
            </a:r>
            <a:r>
              <a:rPr sz="1200">
                <a:solidFill>
                  <a:srgbClr val="1E1E1E"/>
                </a:solidFill>
              </a:rPr>
              <a:t>Structured, fair buyer discovery for rural Women-led SHGs and local FPOs.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657600"/>
            <a:ext cx="3840480" cy="2011680"/>
          </a:xfrm>
          <a:prstGeom prst="roundRect">
            <a:avLst/>
          </a:prstGeom>
          <a:solidFill>
            <a:srgbClr val="FFF5D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ENVIRONMENTAL &amp; SCALABILITY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Reduced Spoilage: </a:t>
            </a:r>
            <a:r>
              <a:rPr sz="1200">
                <a:solidFill>
                  <a:srgbClr val="1E1E1E"/>
                </a:solidFill>
              </a:rPr>
              <a:t>Demand-aware matching lowers failed deliveries and food waste.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Phase 1: </a:t>
            </a:r>
            <a:r>
              <a:rPr sz="1200">
                <a:solidFill>
                  <a:srgbClr val="1E1E1E"/>
                </a:solidFill>
              </a:rPr>
              <a:t>Local FPO Clusters.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Phase 2: </a:t>
            </a:r>
            <a:r>
              <a:rPr sz="1200">
                <a:solidFill>
                  <a:srgbClr val="1E1E1E"/>
                </a:solidFill>
              </a:rPr>
              <a:t>Standardized SLAs.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Phase 3: </a:t>
            </a:r>
            <a:r>
              <a:rPr sz="1200">
                <a:solidFill>
                  <a:srgbClr val="1E1E1E"/>
                </a:solidFill>
              </a:rPr>
              <a:t>Nationwide ONDC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CC00"/>
                </a:solidFill>
              </a:defRPr>
            </a:pPr>
            <a:r>
              <a:t>SIH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GOVERNMENT, SECTOR &amp; TECHNOLOGY REFERENCES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eNAM (National Agriculture Market): </a:t>
            </a:r>
            <a:r>
              <a:rPr sz="1200">
                <a:solidFill>
                  <a:srgbClr val="1E1E1E"/>
                </a:solidFill>
              </a:rPr>
              <a:t>Transparent price discovery framework (enam.gov.in)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FAO Study on Food Loss: </a:t>
            </a:r>
            <a:r>
              <a:rPr sz="1200">
                <a:solidFill>
                  <a:srgbClr val="1E1E1E"/>
                </a:solidFill>
              </a:rPr>
              <a:t>Reducing Post-Harvest Losses in Indian Agriculture (fao.org)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ONDC Market Data: </a:t>
            </a:r>
            <a:r>
              <a:rPr sz="1200">
                <a:solidFill>
                  <a:srgbClr val="1E1E1E"/>
                </a:solidFill>
              </a:rPr>
              <a:t>Empowering farmer communities for digital market access (ondc.org)</a:t>
            </a:r>
          </a:p>
          <a:p>
            <a:pPr lvl="1"/>
            <a:r>
              <a:rPr b="1" sz="1200">
                <a:solidFill>
                  <a:srgbClr val="1E1E1E"/>
                </a:solidFill>
              </a:rPr>
              <a:t>Core Tech Stack: </a:t>
            </a:r>
            <a:r>
              <a:rPr sz="1200">
                <a:solidFill>
                  <a:srgbClr val="1E1E1E"/>
                </a:solidFill>
              </a:rPr>
              <a:t>FastAPI, PostgreSQL, PostGIS, Scikit-learn, Google OR-Tools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