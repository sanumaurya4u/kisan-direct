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30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://enam.gov.in/" TargetMode="External"/><Relationship Id="rId5" Type="http://schemas.openxmlformats.org/officeDocument/2006/relationships/image" Target="../media/image9.png"/><Relationship Id="rId6" Type="http://schemas.openxmlformats.org/officeDocument/2006/relationships/hyperlink" Target="https://enam.gov.in/web/assest/download/eNAM_Directory_20210720.pdf" TargetMode="External"/><Relationship Id="rId7" Type="http://schemas.openxmlformats.org/officeDocument/2006/relationships/hyperlink" Target="https://www.fao.org/platform-food-loss-waste/resources/publications/grains-and-pulses/1/en" TargetMode="External"/><Relationship Id="rId8" Type="http://schemas.openxmlformats.org/officeDocument/2006/relationships/hyperlink" Target="https://www.fao.org/save-food/projects/study-fl-india/en/" TargetMode="External"/><Relationship Id="rId9" Type="http://schemas.openxmlformats.org/officeDocument/2006/relationships/hyperlink" Target="https://ondc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1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63094" y="888015"/>
            <a:ext cx="8534400" cy="744140"/>
          </a:xfrm>
        </p:spPr>
        <p:txBody>
          <a:bodyPr/>
          <a:lstStyle/>
          <a:p>
            <a:r>
              <a:rPr lang="en-IN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IN" sz="4000" b="1" noProof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87" y="1428576"/>
            <a:ext cx="67956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Problem Statement ID</a:t>
            </a:r>
            <a:r>
              <a:rPr lang="en-IN" sz="2000" b="1" noProof="1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SIH26033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Problem Statement Title </a:t>
            </a:r>
            <a:r>
              <a:rPr lang="en-IN" sz="2000" b="1" noProof="1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 Multiple intermediaries reduce farmers earnings and increase consumer prices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Theme </a:t>
            </a:r>
            <a:r>
              <a:rPr lang="en-IN" sz="2000" b="1" noProof="1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 Agriculture, FoodTech &amp; Rural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PS Category </a:t>
            </a:r>
            <a:r>
              <a:rPr lang="en-IN" sz="2000" b="1" noProof="1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Team ID </a:t>
            </a:r>
            <a:r>
              <a:rPr lang="en-IN" sz="2000" b="1" noProof="1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IN" sz="2000" b="1" noProof="1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 Team Allied</a:t>
            </a:r>
          </a:p>
          <a:p>
            <a:r>
              <a:rPr lang="en-IN" sz="2400" b="1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noProof="1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92038" cy="338554"/>
          </a:xfrm>
        </p:spPr>
        <p:txBody>
          <a:bodyPr/>
          <a:lstStyle/>
          <a:p>
            <a:pPr eaLnBrk="1" hangingPunct="1"/>
            <a:br>
              <a:rPr lang="en-IN" sz="3600" b="1" noProof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800" b="1" noProof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KISAN DIRECT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IN" b="1" noProof="1" smtClean="0">
                <a:solidFill>
                  <a:schemeClr val="bg1"/>
                </a:solidFill>
              </a:rPr>
              <a:pPr/>
              <a:t>2</a:t>
            </a:fld>
            <a:endParaRPr lang="en-IN" b="1" noProof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noProof="1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1147" y="76898"/>
            <a:ext cx="1469530" cy="6818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noProof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ALLIED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405" y="1501"/>
            <a:ext cx="1469530" cy="693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7994C1-CF11-66EF-7DDD-9CEDA74B9974}"/>
              </a:ext>
            </a:extLst>
          </p:cNvPr>
          <p:cNvSpPr txBox="1"/>
          <p:nvPr/>
        </p:nvSpPr>
        <p:spPr>
          <a:xfrm>
            <a:off x="254118" y="1251155"/>
            <a:ext cx="2340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noProof="1"/>
              <a:t>PROPOSED SOLUTION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5C2E94-27D2-C76C-CD43-8459781C40D3}"/>
              </a:ext>
            </a:extLst>
          </p:cNvPr>
          <p:cNvCxnSpPr>
            <a:cxnSpLocks/>
          </p:cNvCxnSpPr>
          <p:nvPr/>
        </p:nvCxnSpPr>
        <p:spPr>
          <a:xfrm>
            <a:off x="4050562" y="1362234"/>
            <a:ext cx="0" cy="4810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2BB925-6DBB-2C6B-B4F6-7D1037EB091B}"/>
              </a:ext>
            </a:extLst>
          </p:cNvPr>
          <p:cNvCxnSpPr>
            <a:cxnSpLocks/>
          </p:cNvCxnSpPr>
          <p:nvPr/>
        </p:nvCxnSpPr>
        <p:spPr>
          <a:xfrm>
            <a:off x="8178800" y="1362234"/>
            <a:ext cx="0" cy="48471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A9EDEB4-8499-14B7-0002-14DDC27C82DD}"/>
              </a:ext>
            </a:extLst>
          </p:cNvPr>
          <p:cNvSpPr txBox="1"/>
          <p:nvPr/>
        </p:nvSpPr>
        <p:spPr>
          <a:xfrm>
            <a:off x="4122557" y="1251155"/>
            <a:ext cx="27686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noProof="1"/>
              <a:t>HOW IT ADDRESSESS PS 33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600" noProof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E7A959-8940-384C-A228-B00E88FD29ED}"/>
              </a:ext>
            </a:extLst>
          </p:cNvPr>
          <p:cNvSpPr txBox="1"/>
          <p:nvPr/>
        </p:nvSpPr>
        <p:spPr>
          <a:xfrm>
            <a:off x="8228780" y="1267125"/>
            <a:ext cx="294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noProof="1"/>
              <a:t>INNOVATION &amp; UNIQUENESS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FEC73B-997A-DD8E-4748-A9AFF26658F5}"/>
              </a:ext>
            </a:extLst>
          </p:cNvPr>
          <p:cNvSpPr/>
          <p:nvPr/>
        </p:nvSpPr>
        <p:spPr>
          <a:xfrm>
            <a:off x="305946" y="1605679"/>
            <a:ext cx="3542692" cy="46160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b="1" sz="1400"/>
              <a:t>Value Proposition: </a:t>
            </a:r>
            <a:r>
              <a:rPr sz="1400"/>
              <a:t>An AI-driven marketplace eliminating opaque intermediaries, connecting farmers/FPOs directly with verified institutional buyers.</a:t>
            </a:r>
          </a:p>
          <a:p>
            <a:pPr/>
            <a:r>
              <a:rPr b="1" sz="1400"/>
              <a:t>Key Mechanism: </a:t>
            </a:r>
            <a:r>
              <a:rPr sz="1400"/>
              <a:t>Uses Explainable AI (XAI) to match buyers and sellers based on crop, quality, logistics, and real-time market prices.</a:t>
            </a:r>
          </a:p>
          <a:p>
            <a:pPr/>
            <a:r>
              <a:rPr b="1" sz="1400"/>
              <a:t>Goal: </a:t>
            </a:r>
            <a:r>
              <a:rPr sz="1400"/>
              <a:t>Maximize net margins for farmers and minimize procurement costs for buyers.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946A8-EE7E-15F7-2E98-6B1F43AD48EB}"/>
              </a:ext>
            </a:extLst>
          </p:cNvPr>
          <p:cNvSpPr/>
          <p:nvPr/>
        </p:nvSpPr>
        <p:spPr>
          <a:xfrm>
            <a:off x="4276199" y="1584175"/>
            <a:ext cx="3700667" cy="458276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0C50C4-DCE2-4A95-AA9F-1849C92BBFD2}"/>
              </a:ext>
            </a:extLst>
          </p:cNvPr>
          <p:cNvSpPr txBox="1"/>
          <p:nvPr/>
        </p:nvSpPr>
        <p:spPr>
          <a:xfrm>
            <a:off x="4227972" y="1577705"/>
            <a:ext cx="383800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b="1" sz="1400"/>
              <a:t>Direct Connect: </a:t>
            </a:r>
            <a:r>
              <a:rPr sz="1400"/>
              <a:t>Bypasses multiple layers, ensuring direct farmer-to-buyer trade.</a:t>
            </a:r>
          </a:p>
          <a:p>
            <a:pPr/>
            <a:r>
              <a:rPr b="1" sz="1400"/>
              <a:t>Price Intelligence: </a:t>
            </a:r>
            <a:r>
              <a:rPr sz="1400"/>
              <a:t>Shows market context &amp; trends before negotiation starts.</a:t>
            </a:r>
          </a:p>
          <a:p>
            <a:pPr/>
            <a:r>
              <a:rPr b="1" sz="1400"/>
              <a:t>Logistics Integration: </a:t>
            </a:r>
            <a:r>
              <a:rPr sz="1400"/>
              <a:t>Estimates delivery costs &amp; ETA upfront to avoid hidden losses.</a:t>
            </a:r>
          </a:p>
          <a:p>
            <a:pPr/>
            <a:r>
              <a:rPr b="1" sz="1400"/>
              <a:t>Farmer Control: </a:t>
            </a:r>
            <a:r>
              <a:rPr sz="1400"/>
              <a:t>AI recommends the best matches, but the farmer retains full control.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C2D12-A569-B45E-933D-1001EEDF0E12}"/>
              </a:ext>
            </a:extLst>
          </p:cNvPr>
          <p:cNvSpPr/>
          <p:nvPr/>
        </p:nvSpPr>
        <p:spPr>
          <a:xfrm>
            <a:off x="8380735" y="1623956"/>
            <a:ext cx="3649200" cy="45429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9A48E4-26F6-839C-3046-DD7CFBCD54C8}"/>
              </a:ext>
            </a:extLst>
          </p:cNvPr>
          <p:cNvSpPr txBox="1"/>
          <p:nvPr/>
        </p:nvSpPr>
        <p:spPr>
          <a:xfrm>
            <a:off x="8296963" y="1563686"/>
            <a:ext cx="3816744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b="1" sz="1400"/>
              <a:t>Explainable AI (XAI): </a:t>
            </a:r>
            <a:r>
              <a:rPr sz="1400"/>
              <a:t>No black-box algorithms. Every match shows sub-scores, reasons, and warnings.</a:t>
            </a:r>
          </a:p>
          <a:p>
            <a:pPr/>
            <a:r>
              <a:rPr b="1" sz="1400"/>
              <a:t>Net-Gain Optimization: </a:t>
            </a:r>
            <a:r>
              <a:rPr sz="1400"/>
              <a:t>Prioritizes nearer buyers if logistics costs outweigh price gains.</a:t>
            </a:r>
          </a:p>
          <a:p>
            <a:pPr/>
            <a:r>
              <a:rPr b="1" sz="1400"/>
              <a:t>Modular Architecture: </a:t>
            </a:r>
            <a:r>
              <a:rPr sz="1400"/>
              <a:t>AI modules (pricing, matching, forecasting) are plug-and-play.</a:t>
            </a:r>
          </a:p>
          <a:p>
            <a:pPr/>
            <a:r>
              <a:rPr b="1" sz="1400"/>
              <a:t>Transparent Service Layer: </a:t>
            </a:r>
            <a:r>
              <a:rPr sz="1400"/>
              <a:t>Logistics are visible services, not hidden costs.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noProof="1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437863" cy="806342"/>
          </a:xfrm>
        </p:spPr>
        <p:txBody>
          <a:bodyPr/>
          <a:lstStyle/>
          <a:p>
            <a:pPr eaLnBrk="1" hangingPunct="1"/>
            <a:r>
              <a:rPr lang="en-IN" sz="3600" b="1" noProof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IN" b="1" noProof="1" smtClean="0">
                <a:solidFill>
                  <a:schemeClr val="bg1"/>
                </a:solidFill>
              </a:rPr>
              <a:pPr/>
              <a:t>3</a:t>
            </a:fld>
            <a:endParaRPr lang="en-IN" b="1" noProof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noProof="1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1120" y="1501"/>
            <a:ext cx="1849733" cy="873409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43570CE-6B19-098B-FB53-BC188571CE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1147" y="76898"/>
            <a:ext cx="1469530" cy="6818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noProof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ALLIED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C7F499-22A9-B277-F8B2-45A39E08720E}"/>
              </a:ext>
            </a:extLst>
          </p:cNvPr>
          <p:cNvCxnSpPr>
            <a:cxnSpLocks/>
          </p:cNvCxnSpPr>
          <p:nvPr/>
        </p:nvCxnSpPr>
        <p:spPr>
          <a:xfrm flipH="1">
            <a:off x="4484430" y="927046"/>
            <a:ext cx="35812" cy="5429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CEB0EF-B525-B4AD-8D67-C15B6C105FDD}"/>
              </a:ext>
            </a:extLst>
          </p:cNvPr>
          <p:cNvSpPr txBox="1"/>
          <p:nvPr/>
        </p:nvSpPr>
        <p:spPr>
          <a:xfrm>
            <a:off x="4833804" y="866604"/>
            <a:ext cx="2837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TECHNOLOGIES TO BE USED</a:t>
            </a:r>
          </a:p>
          <a:p>
            <a:pPr lvl="1"/>
            <a:r>
              <a:rPr b="1" sz="1400"/>
              <a:t>Frontend: </a:t>
            </a:r>
            <a:r>
              <a:rPr sz="1400"/>
              <a:t>React.js, Tailwind CSS (Responsive PWA)</a:t>
            </a:r>
          </a:p>
          <a:p>
            <a:pPr lvl="1"/>
            <a:r>
              <a:rPr b="1" sz="1400"/>
              <a:t>Backend: </a:t>
            </a:r>
            <a:r>
              <a:rPr sz="1400"/>
              <a:t>FastAPI (Python), Node.js (Microservices)</a:t>
            </a:r>
          </a:p>
          <a:p>
            <a:pPr lvl="1"/>
            <a:r>
              <a:rPr b="1" sz="1400"/>
              <a:t>Database: </a:t>
            </a:r>
            <a:r>
              <a:rPr sz="1400"/>
              <a:t>PostgreSQL with PostGIS (for spatial queries)</a:t>
            </a:r>
          </a:p>
          <a:p>
            <a:pPr lvl="1"/>
            <a:r>
              <a:rPr b="1" sz="1400"/>
              <a:t>AI/ML: </a:t>
            </a:r>
            <a:r>
              <a:rPr sz="1400"/>
              <a:t>Scikit-learn (Match scoring, price prediction)</a:t>
            </a:r>
          </a:p>
          <a:p>
            <a:pPr lvl="1"/>
            <a:r>
              <a:rPr b="1" sz="1400"/>
              <a:t>Logistics/Routing: </a:t>
            </a:r>
            <a:r>
              <a:rPr sz="1400"/>
              <a:t>Google OR-Tools, OpenStreetMap</a:t>
            </a:r>
          </a:p>
          <a:p>
            <a:pPr lvl="1"/>
            <a:r>
              <a:rPr b="1" sz="1400"/>
              <a:t>Infrastructure: </a:t>
            </a:r>
            <a:r>
              <a:rPr sz="1400"/>
              <a:t>Docker, JWT Authentication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E419B-C8B1-A1C9-5C18-AA50E43FD54E}"/>
              </a:ext>
            </a:extLst>
          </p:cNvPr>
          <p:cNvSpPr txBox="1"/>
          <p:nvPr/>
        </p:nvSpPr>
        <p:spPr>
          <a:xfrm>
            <a:off x="300110" y="866604"/>
            <a:ext cx="31382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4DCCCF-9C2E-9B95-AAAE-7FE4BE254AFC}"/>
              </a:ext>
            </a:extLst>
          </p:cNvPr>
          <p:cNvSpPr txBox="1"/>
          <p:nvPr/>
        </p:nvSpPr>
        <p:spPr>
          <a:xfrm>
            <a:off x="166400" y="1415635"/>
            <a:ext cx="428236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b="1" sz="1400"/>
              <a:t>1. Onboard &amp; Auth: </a:t>
            </a:r>
            <a:r>
              <a:rPr sz="1400"/>
              <a:t>Secure JWT-backed login for Farmers, FPOs, and Buyers.</a:t>
            </a:r>
          </a:p>
          <a:p>
            <a:pPr/>
            <a:r>
              <a:rPr b="1" sz="1400"/>
              <a:t>2. Create Listing: </a:t>
            </a:r>
            <a:r>
              <a:rPr sz="1400"/>
              <a:t>Farmer enters crop, quantity, quality, and location.</a:t>
            </a:r>
          </a:p>
          <a:p>
            <a:pPr/>
            <a:r>
              <a:rPr b="1" sz="1400"/>
              <a:t>3. Discover &amp; Offer: </a:t>
            </a:r>
            <a:r>
              <a:rPr sz="1400"/>
              <a:t>Buyers search and submit offers for suitable batches.</a:t>
            </a:r>
          </a:p>
          <a:p>
            <a:pPr/>
            <a:r>
              <a:rPr b="1" sz="1400"/>
              <a:t>4. AI Match Computation: </a:t>
            </a:r>
            <a:r>
              <a:rPr sz="1400"/>
              <a:t>System scores based on price, distance, delivery, and reliability.</a:t>
            </a:r>
          </a:p>
          <a:p>
            <a:pPr/>
            <a:r>
              <a:rPr b="1" sz="1400"/>
              <a:t>5. Review &amp; Accept: </a:t>
            </a:r>
            <a:r>
              <a:rPr sz="1400"/>
              <a:t>Farmer reviews the explainable match score and accepts the best net-gain offer.</a:t>
            </a:r>
          </a:p>
          <a:p>
            <a:pPr/>
            <a:r>
              <a:rPr b="1" sz="1400"/>
              <a:t>6. Plan Delivery: </a:t>
            </a:r>
            <a:r>
              <a:rPr sz="1400"/>
              <a:t>Logistics service estimates distance, vehicle type, and cost.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314B71-11F2-8B88-0CCB-1AEB49170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87216"/>
              </p:ext>
            </p:extLst>
          </p:nvPr>
        </p:nvGraphicFramePr>
        <p:xfrm>
          <a:off x="4833804" y="1352881"/>
          <a:ext cx="7108514" cy="4629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688">
                  <a:extLst>
                    <a:ext uri="{9D8B030D-6E8A-4147-A177-3AD203B41FA5}">
                      <a16:colId xmlns:a16="http://schemas.microsoft.com/office/drawing/2014/main" val="4162971767"/>
                    </a:ext>
                  </a:extLst>
                </a:gridCol>
                <a:gridCol w="4640826">
                  <a:extLst>
                    <a:ext uri="{9D8B030D-6E8A-4147-A177-3AD203B41FA5}">
                      <a16:colId xmlns:a16="http://schemas.microsoft.com/office/drawing/2014/main" val="2903904420"/>
                    </a:ext>
                  </a:extLst>
                </a:gridCol>
              </a:tblGrid>
              <a:tr h="377912">
                <a:tc>
                  <a:txBody>
                    <a:bodyPr/>
                    <a:lstStyle/>
                    <a:p>
                      <a:pPr algn="ctr"/>
                      <a:r>
                        <a:rPr lang="en-IN" noProof="1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1"/>
                        <a:t>Technology and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554015"/>
                  </a:ext>
                </a:extLst>
              </a:tr>
              <a:tr h="661346">
                <a:tc>
                  <a:txBody>
                    <a:bodyPr/>
                    <a:lstStyle/>
                    <a:p>
                      <a:pPr algn="ctr"/>
                      <a:r>
                        <a:rPr lang="en-IN" noProof="1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1"/>
                        <a:t>React 18, Vite, Tailwind CSS, React Router, Recharts and i18next.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014961"/>
                  </a:ext>
                </a:extLst>
              </a:tr>
              <a:tr h="661346">
                <a:tc>
                  <a:txBody>
                    <a:bodyPr/>
                    <a:lstStyle/>
                    <a:p>
                      <a:pPr algn="ctr"/>
                      <a:r>
                        <a:rPr lang="en-IN" noProof="1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1"/>
                        <a:t>Python 3.11, FastAPI and Pydantic v2. Resource-oriented API endpoints for auth.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05119"/>
                  </a:ext>
                </a:extLst>
              </a:tr>
              <a:tr h="944780">
                <a:tc>
                  <a:txBody>
                    <a:bodyPr/>
                    <a:lstStyle/>
                    <a:p>
                      <a:pPr algn="ctr"/>
                      <a:r>
                        <a:rPr lang="en-IN" noProof="1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1"/>
                        <a:t>PostgreSQL 15. Reference schema includes PostGIS support for a production geographic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239911"/>
                  </a:ext>
                </a:extLst>
              </a:tr>
              <a:tr h="661346">
                <a:tc>
                  <a:txBody>
                    <a:bodyPr/>
                    <a:lstStyle/>
                    <a:p>
                      <a:pPr algn="ctr"/>
                      <a:r>
                        <a:rPr lang="en-IN" noProof="1"/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1"/>
                        <a:t>Pandas, NumPy and scikit-learn baseline linear-regression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954302"/>
                  </a:ext>
                </a:extLst>
              </a:tr>
              <a:tr h="661346">
                <a:tc>
                  <a:txBody>
                    <a:bodyPr/>
                    <a:lstStyle/>
                    <a:p>
                      <a:pPr algn="ctr"/>
                      <a:r>
                        <a:rPr lang="en-IN" noProof="1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1"/>
                        <a:t>JWT authentication, bcrypt password hashing and role-based access control.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678991"/>
                  </a:ext>
                </a:extLst>
              </a:tr>
              <a:tr h="661346">
                <a:tc>
                  <a:txBody>
                    <a:bodyPr/>
                    <a:lstStyle/>
                    <a:p>
                      <a:pPr algn="ctr"/>
                      <a:r>
                        <a:rPr lang="en-IN" noProof="1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1"/>
                        <a:t>Docker, Docker Compose and Nginx-served frontend.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568798"/>
                  </a:ext>
                </a:extLst>
              </a:tr>
            </a:tbl>
          </a:graphicData>
        </a:graphic>
      </p:graphicFrame>
      <p:pic>
        <p:nvPicPr>
          <p:cNvPr id="8" name="Image 0" descr="/home/claude/icon_frontend.png">
            <a:extLst>
              <a:ext uri="{FF2B5EF4-FFF2-40B4-BE49-F238E27FC236}">
                <a16:creationId xmlns:a16="http://schemas.microsoft.com/office/drawing/2014/main" id="{1B59DA47-C87A-C59E-9600-59C07FF899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014976" y="1789511"/>
            <a:ext cx="256032" cy="256032"/>
          </a:xfrm>
          <a:prstGeom prst="rect">
            <a:avLst/>
          </a:prstGeom>
        </p:spPr>
      </p:pic>
      <p:pic>
        <p:nvPicPr>
          <p:cNvPr id="11" name="Image 1" descr="/home/claude/icon_backend.png">
            <a:extLst>
              <a:ext uri="{FF2B5EF4-FFF2-40B4-BE49-F238E27FC236}">
                <a16:creationId xmlns:a16="http://schemas.microsoft.com/office/drawing/2014/main" id="{5B9FFEB5-0809-0B6A-741B-A25F2BC60D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46980" y="2439673"/>
            <a:ext cx="256032" cy="256032"/>
          </a:xfrm>
          <a:prstGeom prst="rect">
            <a:avLst/>
          </a:prstGeom>
        </p:spPr>
      </p:pic>
      <p:pic>
        <p:nvPicPr>
          <p:cNvPr id="15" name="Image 3" descr="/home/claude/icon_aiml.png">
            <a:extLst>
              <a:ext uri="{FF2B5EF4-FFF2-40B4-BE49-F238E27FC236}">
                <a16:creationId xmlns:a16="http://schemas.microsoft.com/office/drawing/2014/main" id="{8DA7FC56-28BA-3714-2230-C82D30823C9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14976" y="4003040"/>
            <a:ext cx="376936" cy="376936"/>
          </a:xfrm>
          <a:prstGeom prst="rect">
            <a:avLst/>
          </a:prstGeom>
        </p:spPr>
      </p:pic>
      <p:pic>
        <p:nvPicPr>
          <p:cNvPr id="19" name="Image 4" descr="/home/claude/icon_security.png">
            <a:extLst>
              <a:ext uri="{FF2B5EF4-FFF2-40B4-BE49-F238E27FC236}">
                <a16:creationId xmlns:a16="http://schemas.microsoft.com/office/drawing/2014/main" id="{BBC5272B-A395-765D-6E8B-5ACC1962141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75428" y="4738237"/>
            <a:ext cx="256032" cy="256032"/>
          </a:xfrm>
          <a:prstGeom prst="rect">
            <a:avLst/>
          </a:prstGeom>
        </p:spPr>
      </p:pic>
      <p:pic>
        <p:nvPicPr>
          <p:cNvPr id="23" name="Image 5" descr="/home/claude/icon_deployment.png">
            <a:extLst>
              <a:ext uri="{FF2B5EF4-FFF2-40B4-BE49-F238E27FC236}">
                <a16:creationId xmlns:a16="http://schemas.microsoft.com/office/drawing/2014/main" id="{5F208FB2-6EDA-B9CA-5E70-48AE345CC72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65268" y="5332653"/>
            <a:ext cx="344932" cy="344932"/>
          </a:xfrm>
          <a:prstGeom prst="rect">
            <a:avLst/>
          </a:prstGeom>
        </p:spPr>
      </p:pic>
      <p:pic>
        <p:nvPicPr>
          <p:cNvPr id="25" name="Image 2" descr="/home/claude/icon_database.png">
            <a:extLst>
              <a:ext uri="{FF2B5EF4-FFF2-40B4-BE49-F238E27FC236}">
                <a16:creationId xmlns:a16="http://schemas.microsoft.com/office/drawing/2014/main" id="{A928B2B4-1C64-E5BC-1EF7-338B3D31758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14976" y="3120840"/>
            <a:ext cx="288036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1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342880" cy="806342"/>
          </a:xfrm>
        </p:spPr>
        <p:txBody>
          <a:bodyPr/>
          <a:lstStyle/>
          <a:p>
            <a:pPr eaLnBrk="1" hangingPunct="1"/>
            <a:r>
              <a:rPr lang="en-IN" sz="3600" b="1" noProof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IN" sz="1200" b="1" i="0" u="none" strike="noStrike" kern="1200" cap="none" spc="0" normalizeH="0" baseline="0" noProof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405" y="1501"/>
            <a:ext cx="1469530" cy="693884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E803302-B98C-14D4-7BE9-54BB6E4E25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1147" y="76898"/>
            <a:ext cx="1469530" cy="6818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noProof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ALLIED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717B8E-2CD2-7956-0A4F-741774A87C7E}"/>
              </a:ext>
            </a:extLst>
          </p:cNvPr>
          <p:cNvSpPr/>
          <p:nvPr/>
        </p:nvSpPr>
        <p:spPr>
          <a:xfrm>
            <a:off x="609600" y="883240"/>
            <a:ext cx="3869803" cy="254576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742950" lvl="1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TECHNICAL FEASIBILITY</a:t>
            </a:r>
          </a:p>
          <a:p>
            <a:pPr lvl="1"/>
            <a:r>
              <a:rPr b="1" sz="1400"/>
              <a:t>MVP Ready: </a:t>
            </a:r>
            <a:r>
              <a:rPr sz="1400"/>
              <a:t>Core workflow operational using React, PostgreSQL, and Docker.</a:t>
            </a:r>
          </a:p>
          <a:p>
            <a:pPr lvl="1"/>
            <a:r>
              <a:rPr b="1" sz="1400"/>
              <a:t>Scalable: </a:t>
            </a:r>
            <a:r>
              <a:rPr sz="1400"/>
              <a:t>Modular ML services allow updates without breaking the main API contract.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B3E7068-3B91-2182-FD2D-A3F224C45CCF}"/>
              </a:ext>
            </a:extLst>
          </p:cNvPr>
          <p:cNvSpPr/>
          <p:nvPr/>
        </p:nvSpPr>
        <p:spPr>
          <a:xfrm>
            <a:off x="609600" y="3684479"/>
            <a:ext cx="4038600" cy="254576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742950" lvl="1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MARKET FEASIBILITY</a:t>
            </a:r>
          </a:p>
          <a:p>
            <a:pPr lvl="1"/>
            <a:r>
              <a:rPr b="1" sz="1400"/>
              <a:t>Targeted Launch: </a:t>
            </a:r>
            <a:r>
              <a:rPr sz="1400"/>
              <a:t>Starting with specific FPO clusters and anchor buyers to ensure liquidity.</a:t>
            </a:r>
          </a:p>
          <a:p>
            <a:pPr lvl="1"/>
            <a:r>
              <a:rPr b="1" sz="1400"/>
              <a:t>Clear Need: </a:t>
            </a:r>
            <a:r>
              <a:rPr sz="1400"/>
              <a:t>Farmers demand price context; buyers need verified, traceable batches.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FEEDEB1-35AF-EAAB-35ED-6B72E54D8546}"/>
              </a:ext>
            </a:extLst>
          </p:cNvPr>
          <p:cNvSpPr/>
          <p:nvPr/>
        </p:nvSpPr>
        <p:spPr>
          <a:xfrm>
            <a:off x="4800600" y="883240"/>
            <a:ext cx="4038600" cy="25457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742950" lvl="1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OPERATIONAL FEASIBILITY</a:t>
            </a:r>
          </a:p>
          <a:p>
            <a:pPr lvl="1"/>
            <a:r>
              <a:rPr b="1" sz="1400"/>
              <a:t>FPO Partnerships: </a:t>
            </a:r>
            <a:r>
              <a:rPr sz="1400"/>
              <a:t>FPOs support onboarding, aggregation, and quality checks.</a:t>
            </a:r>
          </a:p>
          <a:p>
            <a:pPr lvl="1"/>
            <a:r>
              <a:rPr b="1" sz="1400"/>
              <a:t>Logistics Integration: </a:t>
            </a:r>
            <a:r>
              <a:rPr sz="1400"/>
              <a:t>Existing logistics providers partner as visible, priced services.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1C2D847-FE79-3A0B-8635-75DEAA3DBA5D}"/>
              </a:ext>
            </a:extLst>
          </p:cNvPr>
          <p:cNvSpPr/>
          <p:nvPr/>
        </p:nvSpPr>
        <p:spPr>
          <a:xfrm>
            <a:off x="4800600" y="3619001"/>
            <a:ext cx="4038600" cy="25457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marL="742950" lvl="1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COMPETITIVE ADVANTAGE</a:t>
            </a:r>
          </a:p>
          <a:p>
            <a:pPr lvl="1"/>
            <a:r>
              <a:rPr b="1" sz="1400"/>
              <a:t>Integrated Workflow: </a:t>
            </a:r>
            <a:r>
              <a:rPr sz="1400"/>
              <a:t>Combines price intelligence, demand forecasting, and logistics.</a:t>
            </a:r>
          </a:p>
          <a:p>
            <a:pPr lvl="1"/>
            <a:r>
              <a:rPr b="1" sz="1400"/>
              <a:t>Farmer-Centric: </a:t>
            </a:r>
            <a:r>
              <a:rPr sz="1400"/>
              <a:t>Focuses on actual net realization rather than just highest gross price.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8DEF413-19A5-D982-5D7A-2A5D9B3D2415}"/>
              </a:ext>
            </a:extLst>
          </p:cNvPr>
          <p:cNvSpPr/>
          <p:nvPr/>
        </p:nvSpPr>
        <p:spPr>
          <a:xfrm>
            <a:off x="8991601" y="984276"/>
            <a:ext cx="3038334" cy="523396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VALIDATION STRATEGY</a:t>
            </a:r>
          </a:p>
          <a:p>
            <a:pPr lvl="1"/>
            <a:r>
              <a:rPr b="1" sz="1400"/>
              <a:t>AI Validation: </a:t>
            </a:r>
            <a:r>
              <a:rPr sz="1400"/>
              <a:t>Compare match recommendations against actual accepted offers.</a:t>
            </a:r>
          </a:p>
          <a:p>
            <a:pPr lvl="1"/>
            <a:r>
              <a:rPr b="1" sz="1400"/>
              <a:t>Economic Validation: </a:t>
            </a:r>
            <a:r>
              <a:rPr sz="1400"/>
              <a:t>Measure farmer net realization and buyer procurement cost vs. baseline.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 animBg="1"/>
      <p:bldP spid="32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1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353040" cy="807334"/>
          </a:xfrm>
        </p:spPr>
        <p:txBody>
          <a:bodyPr/>
          <a:lstStyle/>
          <a:p>
            <a:pPr eaLnBrk="1" hangingPunct="1"/>
            <a:r>
              <a:rPr lang="en-IN" sz="3600" b="1" noProof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IN" sz="1200" b="1" i="0" u="none" strike="noStrike" kern="1200" cap="none" spc="0" normalizeH="0" baseline="0" noProof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406" y="1500"/>
            <a:ext cx="1469530" cy="693885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8E3A670-A061-CA58-DD6D-6945566F8C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1147" y="76898"/>
            <a:ext cx="1469530" cy="6818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noProof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ALLIED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A26552-176D-7647-1FE9-C09BC7164392}"/>
              </a:ext>
            </a:extLst>
          </p:cNvPr>
          <p:cNvSpPr/>
          <p:nvPr/>
        </p:nvSpPr>
        <p:spPr>
          <a:xfrm>
            <a:off x="111146" y="990282"/>
            <a:ext cx="3688693" cy="24387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TARGET AUDIENCE &amp; REACH</a:t>
            </a:r>
          </a:p>
          <a:p>
            <a:pPr lvl="1"/>
            <a:r>
              <a:rPr b="1" sz="1400"/>
              <a:t>Primary: </a:t>
            </a:r>
            <a:r>
              <a:rPr sz="1400"/>
              <a:t>Small/marginal farmers, FPOs, Women-led SHGs.</a:t>
            </a:r>
          </a:p>
          <a:p>
            <a:pPr lvl="1"/>
            <a:r>
              <a:rPr b="1" sz="1400"/>
              <a:t>Secondary: </a:t>
            </a:r>
            <a:r>
              <a:rPr sz="1400"/>
              <a:t>Retailers, restaurants, processors, institutional buyers, logistics providers.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EFA5F1-4E5C-82F9-31AE-1363D76430AD}"/>
              </a:ext>
            </a:extLst>
          </p:cNvPr>
          <p:cNvSpPr/>
          <p:nvPr/>
        </p:nvSpPr>
        <p:spPr>
          <a:xfrm>
            <a:off x="111146" y="3647121"/>
            <a:ext cx="3772596" cy="2576697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SOCIAL IMPACT</a:t>
            </a:r>
          </a:p>
          <a:p>
            <a:pPr lvl="1"/>
            <a:r>
              <a:rPr b="1" sz="1400"/>
              <a:t>Empowerment: </a:t>
            </a:r>
            <a:r>
              <a:rPr sz="1400"/>
              <a:t>Strengthens farmer agency with clear offer, price, and delivery data.</a:t>
            </a:r>
          </a:p>
          <a:p>
            <a:pPr lvl="1"/>
            <a:r>
              <a:rPr b="1" sz="1400"/>
              <a:t>Inclusivity: </a:t>
            </a:r>
            <a:r>
              <a:rPr sz="1400"/>
              <a:t>Supports structured buyer discovery for Women-led SHGs and local FPOs.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02D5AC-1F3F-2010-1641-0E6CBB0DE2F6}"/>
              </a:ext>
            </a:extLst>
          </p:cNvPr>
          <p:cNvSpPr/>
          <p:nvPr/>
        </p:nvSpPr>
        <p:spPr>
          <a:xfrm>
            <a:off x="4073546" y="1028630"/>
            <a:ext cx="3688693" cy="2618491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ECONOMIC IMPACT</a:t>
            </a:r>
          </a:p>
          <a:p>
            <a:pPr lvl="1"/>
            <a:r>
              <a:rPr b="1" sz="1400"/>
              <a:t>For Farmers: </a:t>
            </a:r>
            <a:r>
              <a:rPr sz="1400"/>
              <a:t>Transparent price and logistics info leads to higher net margins.</a:t>
            </a:r>
          </a:p>
          <a:p>
            <a:pPr lvl="1"/>
            <a:r>
              <a:rPr b="1" sz="1400"/>
              <a:t>For Buyers: </a:t>
            </a:r>
            <a:r>
              <a:rPr sz="1400"/>
              <a:t>Structured sourcing reduces procurement costs and ensures quality.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CE22BF-4F65-CC11-53BA-EB27490C73D3}"/>
              </a:ext>
            </a:extLst>
          </p:cNvPr>
          <p:cNvSpPr/>
          <p:nvPr/>
        </p:nvSpPr>
        <p:spPr>
          <a:xfrm>
            <a:off x="4073545" y="3816415"/>
            <a:ext cx="3688693" cy="2294825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ENVIRONMENTAL IMPACT</a:t>
            </a:r>
          </a:p>
          <a:p>
            <a:pPr lvl="1"/>
            <a:r>
              <a:rPr b="1" sz="1400"/>
              <a:t>Reduced Spoilage: </a:t>
            </a:r>
            <a:r>
              <a:rPr sz="1400"/>
              <a:t>Demand-aware matching lowers failed deliveries and food waste.</a:t>
            </a:r>
          </a:p>
          <a:p>
            <a:pPr lvl="1"/>
            <a:r>
              <a:rPr b="1" sz="1400"/>
              <a:t>Carbon Footprint: </a:t>
            </a:r>
            <a:r>
              <a:rPr sz="1400"/>
              <a:t>Future multi-stop routing optimizations reduce avoidable travel.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9B6C2A-3710-9522-A025-331CF3255010}"/>
              </a:ext>
            </a:extLst>
          </p:cNvPr>
          <p:cNvSpPr/>
          <p:nvPr/>
        </p:nvSpPr>
        <p:spPr>
          <a:xfrm>
            <a:off x="8035946" y="998149"/>
            <a:ext cx="3688693" cy="5225669"/>
          </a:xfrm>
          <a:prstGeom prst="round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  <a:defRPr b="1" sz="1600">
                <a:solidFill>
                  <a:srgbClr val="003399"/>
                </a:solidFill>
              </a:defRPr>
            </a:pPr>
            <a:r>
              <a:t>SCALABILITY &amp; SUSTAINABILITY (PHASED)</a:t>
            </a:r>
          </a:p>
          <a:p>
            <a:pPr lvl="1"/>
            <a:r>
              <a:rPr b="1" sz="1400"/>
              <a:t>Phase 1: </a:t>
            </a:r>
            <a:r>
              <a:rPr sz="1400"/>
              <a:t>1-3 FPO clusters, manual operations support.</a:t>
            </a:r>
          </a:p>
          <a:p>
            <a:pPr lvl="1"/>
            <a:r>
              <a:rPr b="1" sz="1400"/>
              <a:t>Phase 2: </a:t>
            </a:r>
            <a:r>
              <a:rPr sz="1400"/>
              <a:t>Standardized verification, buyer SLAs, route-partner networks.</a:t>
            </a:r>
          </a:p>
          <a:p>
            <a:pPr lvl="1"/>
            <a:r>
              <a:rPr b="1" sz="1400"/>
              <a:t>Phase 3: </a:t>
            </a:r>
            <a:r>
              <a:rPr sz="1400"/>
              <a:t>Multi-state expansion, localized demand models, ONDC integrations.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1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04446"/>
          </a:xfrm>
        </p:spPr>
        <p:txBody>
          <a:bodyPr/>
          <a:lstStyle/>
          <a:p>
            <a:pPr eaLnBrk="1" hangingPunct="1"/>
            <a:r>
              <a:rPr lang="en-IN" sz="3600" b="1" noProof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IN" sz="1200" b="1" i="0" u="none" strike="noStrike" kern="1200" cap="none" spc="0" normalizeH="0" baseline="0" noProof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400" y="1501"/>
            <a:ext cx="1463536" cy="691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6764F6-56FE-29BC-9FE2-ED7C41DAE5BB}"/>
              </a:ext>
            </a:extLst>
          </p:cNvPr>
          <p:cNvSpPr txBox="1"/>
          <p:nvPr/>
        </p:nvSpPr>
        <p:spPr>
          <a:xfrm>
            <a:off x="129713" y="935229"/>
            <a:ext cx="3902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07F2B6B-F3D4-E51D-F5B6-46EB7FD68D66}"/>
              </a:ext>
            </a:extLst>
          </p:cNvPr>
          <p:cNvSpPr/>
          <p:nvPr/>
        </p:nvSpPr>
        <p:spPr>
          <a:xfrm>
            <a:off x="129713" y="2327253"/>
            <a:ext cx="3902222" cy="2721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3399"/>
                </a:solidFill>
              </a:defRPr>
            </a:pPr>
            <a:r>
              <a:t>GOVERNMENT AND SECTOR REFERENCES</a:t>
            </a:r>
            <a:endParaRPr lang="en-IN" noProof="1"/>
          </a:p>
          <a:p>
            <a:pPr lvl="1"/>
            <a:r>
              <a:rPr b="1" sz="1400"/>
              <a:t>eNAM (National Agriculture Market): </a:t>
            </a:r>
            <a:r>
              <a:rPr sz="1400"/>
              <a:t>transparent price discovery (enam.gov.in)</a:t>
            </a:r>
          </a:p>
          <a:p>
            <a:pPr lvl="1"/>
            <a:r>
              <a:rPr b="1" sz="1400"/>
              <a:t>FAO Study on Food Loss in India: </a:t>
            </a:r>
            <a:r>
              <a:rPr sz="1400"/>
              <a:t>Reducing Post-Harvest Losses (fao.org)</a:t>
            </a:r>
          </a:p>
          <a:p>
            <a:pPr lvl="1"/>
            <a:r>
              <a:rPr b="1" sz="1400"/>
              <a:t>ONDC: </a:t>
            </a:r>
            <a:r>
              <a:rPr sz="1400"/>
              <a:t>Working with farmer communities for digital market access (ondc.org)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E007033-5AE0-99DF-AFB1-4B2958D99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135" y="2515276"/>
            <a:ext cx="1542240" cy="5140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AB13ECC-FD5E-81D9-E4B2-F4DE80187A07}"/>
              </a:ext>
            </a:extLst>
          </p:cNvPr>
          <p:cNvCxnSpPr>
            <a:cxnSpLocks/>
          </p:cNvCxnSpPr>
          <p:nvPr/>
        </p:nvCxnSpPr>
        <p:spPr>
          <a:xfrm>
            <a:off x="3117535" y="4844691"/>
            <a:ext cx="1647505" cy="88394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C5E9AA-5E45-60AE-64B4-4AC02E66474B}"/>
              </a:ext>
            </a:extLst>
          </p:cNvPr>
          <p:cNvCxnSpPr>
            <a:cxnSpLocks/>
          </p:cNvCxnSpPr>
          <p:nvPr/>
        </p:nvCxnSpPr>
        <p:spPr>
          <a:xfrm>
            <a:off x="4031935" y="3687781"/>
            <a:ext cx="733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54E6F3B1-458A-38DE-4EFA-24D5A0594949}"/>
              </a:ext>
            </a:extLst>
          </p:cNvPr>
          <p:cNvCxnSpPr>
            <a:cxnSpLocks/>
          </p:cNvCxnSpPr>
          <p:nvPr/>
        </p:nvCxnSpPr>
        <p:spPr>
          <a:xfrm flipV="1">
            <a:off x="3210064" y="1811444"/>
            <a:ext cx="1555769" cy="78688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E18A534-1260-ADF6-F3F2-4C0B212CFEE5}"/>
              </a:ext>
            </a:extLst>
          </p:cNvPr>
          <p:cNvSpPr/>
          <p:nvPr/>
        </p:nvSpPr>
        <p:spPr>
          <a:xfrm>
            <a:off x="4765040" y="1390368"/>
            <a:ext cx="3148676" cy="12504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94B7142-BFF6-E6D9-AE98-959A9BD629B2}"/>
              </a:ext>
            </a:extLst>
          </p:cNvPr>
          <p:cNvSpPr/>
          <p:nvPr/>
        </p:nvSpPr>
        <p:spPr>
          <a:xfrm>
            <a:off x="4765040" y="3104936"/>
            <a:ext cx="3148676" cy="12504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AA89286-C95F-E2FD-054D-B719D9769FA7}"/>
              </a:ext>
            </a:extLst>
          </p:cNvPr>
          <p:cNvSpPr/>
          <p:nvPr/>
        </p:nvSpPr>
        <p:spPr>
          <a:xfrm>
            <a:off x="4765040" y="4950279"/>
            <a:ext cx="3148676" cy="12504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1AE8B83-9228-F255-F3D9-98785EEDE18B}"/>
              </a:ext>
            </a:extLst>
          </p:cNvPr>
          <p:cNvSpPr/>
          <p:nvPr/>
        </p:nvSpPr>
        <p:spPr>
          <a:xfrm>
            <a:off x="8160067" y="1080855"/>
            <a:ext cx="3637280" cy="263950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 b="1" sz="1600">
                <a:solidFill>
                  <a:srgbClr val="003399"/>
                </a:solidFill>
              </a:defRPr>
            </a:pPr>
            <a:r>
              <a:t>TECHNOLOGY REFERENCES</a:t>
            </a:r>
          </a:p>
          <a:p>
            <a:pPr lvl="1"/>
            <a:r>
              <a:rPr b="1" sz="1400"/>
              <a:t>FastAPI &amp; PostgreSQL: </a:t>
            </a:r>
            <a:r>
              <a:rPr sz="1400"/>
              <a:t>High-performance backend and relational data.</a:t>
            </a:r>
          </a:p>
          <a:p>
            <a:pPr lvl="1"/>
            <a:r>
              <a:rPr b="1" sz="1400"/>
              <a:t>PostGIS: </a:t>
            </a:r>
            <a:r>
              <a:rPr sz="1400"/>
              <a:t>Spatial database extender for geographic object support.</a:t>
            </a:r>
          </a:p>
          <a:p>
            <a:pPr lvl="1"/>
            <a:r>
              <a:rPr b="1" sz="1400"/>
              <a:t>Scikit-learn: </a:t>
            </a:r>
            <a:r>
              <a:rPr sz="1400"/>
              <a:t>Machine Learning in Python.</a:t>
            </a:r>
          </a:p>
          <a:p>
            <a:pPr lvl="1"/>
            <a:r>
              <a:rPr b="1" sz="1400"/>
              <a:t>Google OR-Tools: </a:t>
            </a:r>
            <a:r>
              <a:rPr sz="1400"/>
              <a:t>Optimization for logistics routing.</a:t>
            </a:r>
          </a:p>
        </p:txBody>
      </p:sp>
      <p:sp>
        <p:nvSpPr>
          <p:cNvPr id="57" name="Oval 56" descr="Your startup LOGO">
            <a:extLst>
              <a:ext uri="{FF2B5EF4-FFF2-40B4-BE49-F238E27FC236}">
                <a16:creationId xmlns:a16="http://schemas.microsoft.com/office/drawing/2014/main" id="{A1A20466-59D9-F41F-26AE-5BF12E257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1147" y="76898"/>
            <a:ext cx="1469530" cy="6818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noProof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ALLIED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2F511C-2FF4-8ED8-9352-1F900EF15626}"/>
              </a:ext>
            </a:extLst>
          </p:cNvPr>
          <p:cNvSpPr/>
          <p:nvPr/>
        </p:nvSpPr>
        <p:spPr>
          <a:xfrm>
            <a:off x="8160067" y="4044393"/>
            <a:ext cx="3637280" cy="215635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7996</TotalTime>
  <Words>1085</Words>
  <Application>Microsoft Office PowerPoint</Application>
  <PresentationFormat>Widescreen</PresentationFormat>
  <Paragraphs>161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Arial Narrow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KISAN DIRECT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deepak914245@outlook.com</cp:lastModifiedBy>
  <cp:revision>151</cp:revision>
  <dcterms:created xsi:type="dcterms:W3CDTF">2013-12-12T18:46:50Z</dcterms:created>
  <dcterms:modified xsi:type="dcterms:W3CDTF">2026-09-16T21:36:50Z</dcterms:modified>
  <cp:category/>
</cp:coreProperties>
</file>